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5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444"/>
    <p:restoredTop sz="94672"/>
  </p:normalViewPr>
  <p:slideViewPr>
    <p:cSldViewPr snapToGrid="0">
      <p:cViewPr>
        <p:scale>
          <a:sx n="140" d="100"/>
          <a:sy n="140" d="100"/>
        </p:scale>
        <p:origin x="-896" y="-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C2791-7E8C-051A-FAC0-3AB00F952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8552" y="887569"/>
            <a:ext cx="8637073" cy="2541431"/>
          </a:xfrm>
        </p:spPr>
        <p:txBody>
          <a:bodyPr>
            <a:normAutofit/>
          </a:bodyPr>
          <a:lstStyle/>
          <a:p>
            <a:r>
              <a:rPr lang="en-US" sz="4000" dirty="0"/>
              <a:t>Exploratory data analysis on Air passenger data and Best burger place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41DEA-6E02-6B76-EA91-473FAADC1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9476" y="3850693"/>
            <a:ext cx="8637072" cy="977621"/>
          </a:xfrm>
        </p:spPr>
        <p:txBody>
          <a:bodyPr/>
          <a:lstStyle/>
          <a:p>
            <a:r>
              <a:rPr lang="en-US" dirty="0"/>
              <a:t>Example Project I slide</a:t>
            </a:r>
          </a:p>
        </p:txBody>
      </p:sp>
    </p:spTree>
    <p:extLst>
      <p:ext uri="{BB962C8B-B14F-4D97-AF65-F5344CB8AC3E}">
        <p14:creationId xmlns:p14="http://schemas.microsoft.com/office/powerpoint/2010/main" val="127132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1A9B-346B-D747-30C3-7D400639E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passenger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FA0A6-C687-897C-456E-232239151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Dataset Description</a:t>
            </a:r>
          </a:p>
          <a:p>
            <a:pPr lvl="1"/>
            <a:r>
              <a:rPr lang="en-US" dirty="0"/>
              <a:t>The AirPassengers dataset records monthly totals of international airline passengers from 1949 to 1960 (144 observations). It is a classic time series dataset built into R.</a:t>
            </a:r>
          </a:p>
          <a:p>
            <a:r>
              <a:rPr lang="en-US" b="1" dirty="0"/>
              <a:t>Preprocessing</a:t>
            </a:r>
          </a:p>
          <a:p>
            <a:pPr lvl="1"/>
            <a:r>
              <a:rPr lang="en-US" dirty="0"/>
              <a:t>No missing values. Data loaded directly as a ts object in R. Year and Month variables were extracted for EDA. Values represent thousands of passengers.</a:t>
            </a:r>
          </a:p>
          <a:p>
            <a:r>
              <a:rPr lang="en-US" b="1" dirty="0"/>
              <a:t>R Summary Output</a:t>
            </a:r>
          </a:p>
          <a:p>
            <a:pPr lvl="1"/>
            <a:r>
              <a:rPr lang="en-US" dirty="0"/>
              <a:t>Min: 104     1st Qu: 180     Median: 265     Mean: 280     3rd Qu: 360     Max: 622</a:t>
            </a:r>
          </a:p>
        </p:txBody>
      </p:sp>
    </p:spTree>
    <p:extLst>
      <p:ext uri="{BB962C8B-B14F-4D97-AF65-F5344CB8AC3E}">
        <p14:creationId xmlns:p14="http://schemas.microsoft.com/office/powerpoint/2010/main" val="286841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E3BF6-FF5A-75C6-7D51-1D538F7C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burger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279B2-8818-8D91-4B3F-80659F59D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Dataset Description</a:t>
            </a:r>
          </a:p>
          <a:p>
            <a:pPr lvl="1"/>
            <a:r>
              <a:rPr lang="en-US" dirty="0"/>
              <a:t>Survey data collected from SurveyUSA asking respondents their favorite burger place, also recording gender. Total of 500 respondents (252 Female, 248 Male).</a:t>
            </a:r>
          </a:p>
          <a:p>
            <a:r>
              <a:rPr lang="en-US" b="1" dirty="0"/>
              <a:t>Variables</a:t>
            </a:r>
          </a:p>
          <a:p>
            <a:pPr lvl="1"/>
            <a:r>
              <a:rPr lang="en-US" dirty="0"/>
              <a:t>best_burger_place (categorical): In-N-Out Burger, Tommy’s Hamburgers, Other, Fat Burger, Not Sure, Five Guys Burgers, Umami Burger</a:t>
            </a:r>
          </a:p>
          <a:p>
            <a:pPr lvl="1"/>
            <a:r>
              <a:rPr lang="en-US" dirty="0"/>
              <a:t>gender (categorical): Male / Female</a:t>
            </a:r>
          </a:p>
          <a:p>
            <a:r>
              <a:rPr lang="en-US" b="1" dirty="0"/>
              <a:t>Key Finding</a:t>
            </a:r>
          </a:p>
          <a:p>
            <a:pPr lvl="1"/>
            <a:r>
              <a:rPr lang="en-US" dirty="0"/>
              <a:t>In-N-Out Burger is the dominant preference (343/500 = 68.6%), far ahead of all other options.</a:t>
            </a:r>
          </a:p>
        </p:txBody>
      </p:sp>
    </p:spTree>
    <p:extLst>
      <p:ext uri="{BB962C8B-B14F-4D97-AF65-F5344CB8AC3E}">
        <p14:creationId xmlns:p14="http://schemas.microsoft.com/office/powerpoint/2010/main" val="1824867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BD662-4211-4DD9-E3DC-CE0C5CCC4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FBDA1-AD11-1D7F-5FBC-DAD8FEACD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passenger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C0DC7-A2B7-C2F7-A630-B4562CC7D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Histogram: Distribution of Monthly Passengers</a:t>
            </a:r>
          </a:p>
          <a:p>
            <a:pPr lvl="1"/>
            <a:r>
              <a:rPr lang="en-US" dirty="0"/>
              <a:t>The histogram shows a right-skewed distribution. Most months fall between 100–300K passengers, with a long tail extending toward 622K. </a:t>
            </a:r>
          </a:p>
          <a:p>
            <a:pPr lvl="1"/>
            <a:endParaRPr lang="en-US" b="1" dirty="0"/>
          </a:p>
          <a:p>
            <a:r>
              <a:rPr lang="en-US" b="1" dirty="0"/>
              <a:t>Table: Average Annual Passengers (thousands)</a:t>
            </a:r>
          </a:p>
          <a:p>
            <a:pPr lvl="1"/>
            <a:r>
              <a:rPr lang="en-US" dirty="0"/>
              <a:t>Year  1949: 126   |   Year 1950: 150   |   Year 1951: 179   |   Year 1952: 199</a:t>
            </a:r>
          </a:p>
          <a:p>
            <a:pPr lvl="1"/>
            <a:r>
              <a:rPr lang="en-US" dirty="0"/>
              <a:t>Year  1953: 226   |   Year 1954: 237   |   Year 1955: 284   |   Year 1956: 316</a:t>
            </a:r>
          </a:p>
          <a:p>
            <a:pPr lvl="1"/>
            <a:r>
              <a:rPr lang="en-US" dirty="0"/>
              <a:t>Year  1957: 357   |   Year 1958: 374   |   Year 1959: 422   |   Year 1960: 476</a:t>
            </a:r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9CFBEF78-BBAA-5CCB-5907-74FE3A49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88" y="3000521"/>
            <a:ext cx="2368296" cy="280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71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1B5FD-7515-E522-D70B-43DA0E913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698E-D693-3B1A-F859-75CDCAE07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/>
          <a:lstStyle/>
          <a:p>
            <a:r>
              <a:rPr lang="en-US" dirty="0"/>
              <a:t>The best burger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8D292-D22B-1E84-C2A0-8ACF60F51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391656"/>
            <a:ext cx="9603275" cy="4074689"/>
          </a:xfrm>
        </p:spPr>
        <p:txBody>
          <a:bodyPr>
            <a:normAutofit/>
          </a:bodyPr>
          <a:lstStyle/>
          <a:p>
            <a:r>
              <a:rPr lang="en-US" b="1" dirty="0"/>
              <a:t>Contingency Table: Burger Preference by Gender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BE6F02-4AF3-E5D5-CDAE-7983E1D47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76182"/>
              </p:ext>
            </p:extLst>
          </p:nvPr>
        </p:nvGraphicFramePr>
        <p:xfrm>
          <a:off x="2340864" y="2112264"/>
          <a:ext cx="5715000" cy="335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41404463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35054330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248107604"/>
                    </a:ext>
                  </a:extLst>
                </a:gridCol>
              </a:tblGrid>
              <a:tr h="500518">
                <a:tc>
                  <a:txBody>
                    <a:bodyPr/>
                    <a:lstStyle/>
                    <a:p>
                      <a:r>
                        <a:rPr lang="en-US" sz="1200" dirty="0"/>
                        <a:t>Best burger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Female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92221"/>
                  </a:ext>
                </a:extLst>
              </a:tr>
              <a:tr h="392174">
                <a:tc>
                  <a:txBody>
                    <a:bodyPr/>
                    <a:lstStyle/>
                    <a:p>
                      <a:r>
                        <a:rPr lang="en-US" sz="1200" dirty="0"/>
                        <a:t>Fat Burger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995348"/>
                  </a:ext>
                </a:extLst>
              </a:tr>
              <a:tr h="392174">
                <a:tc>
                  <a:txBody>
                    <a:bodyPr/>
                    <a:lstStyle/>
                    <a:p>
                      <a:r>
                        <a:rPr lang="en-US" sz="1200" dirty="0"/>
                        <a:t>Five Guys Burgers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545036"/>
                  </a:ext>
                </a:extLst>
              </a:tr>
              <a:tr h="392174">
                <a:tc>
                  <a:txBody>
                    <a:bodyPr/>
                    <a:lstStyle/>
                    <a:p>
                      <a:r>
                        <a:rPr lang="en-US" sz="1200" dirty="0"/>
                        <a:t>In-N-Out Burger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325786"/>
                  </a:ext>
                </a:extLst>
              </a:tr>
              <a:tr h="392174">
                <a:tc>
                  <a:txBody>
                    <a:bodyPr/>
                    <a:lstStyle/>
                    <a:p>
                      <a:r>
                        <a:rPr lang="en-US" sz="1200" dirty="0"/>
                        <a:t>Not Sure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347072"/>
                  </a:ext>
                </a:extLst>
              </a:tr>
              <a:tr h="392174">
                <a:tc>
                  <a:txBody>
                    <a:bodyPr/>
                    <a:lstStyle/>
                    <a:p>
                      <a:r>
                        <a:rPr lang="en-US" sz="1200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847571"/>
                  </a:ext>
                </a:extLst>
              </a:tr>
              <a:tr h="500518">
                <a:tc>
                  <a:txBody>
                    <a:bodyPr/>
                    <a:lstStyle/>
                    <a:p>
                      <a:r>
                        <a:rPr lang="en-US" sz="1200" dirty="0"/>
                        <a:t>Tommy's Hamburgers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699868"/>
                  </a:ext>
                </a:extLst>
              </a:tr>
              <a:tr h="392174">
                <a:tc>
                  <a:txBody>
                    <a:bodyPr/>
                    <a:lstStyle/>
                    <a:p>
                      <a:r>
                        <a:rPr lang="en-US" sz="1200" dirty="0"/>
                        <a:t>Umami Burger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441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494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5FCD-FA49-6D26-E259-342AA121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Barplot</a:t>
            </a:r>
            <a:endParaRPr lang="en-US" dirty="0"/>
          </a:p>
        </p:txBody>
      </p:sp>
      <p:pic>
        <p:nvPicPr>
          <p:cNvPr id="5" name="Content Placeholder 4" descr="A graph of a bar graph&#10;&#10;AI-generated content may be incorrect.">
            <a:extLst>
              <a:ext uri="{FF2B5EF4-FFF2-40B4-BE49-F238E27FC236}">
                <a16:creationId xmlns:a16="http://schemas.microsoft.com/office/drawing/2014/main" id="{7BCA1F53-6710-0A5F-A574-CB2B7B6F6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7049" y="2016125"/>
            <a:ext cx="3639311" cy="3449638"/>
          </a:xfrm>
          <a:prstGeom prst="rect">
            <a:avLst/>
          </a:prstGeom>
        </p:spPr>
      </p:pic>
      <p:pic>
        <p:nvPicPr>
          <p:cNvPr id="7" name="Picture 6" descr="A graph of a bar graph&#10;&#10;AI-generated content may be incorrect.">
            <a:extLst>
              <a:ext uri="{FF2B5EF4-FFF2-40B4-BE49-F238E27FC236}">
                <a16:creationId xmlns:a16="http://schemas.microsoft.com/office/drawing/2014/main" id="{4A26A92C-AAC8-6CF4-DC62-28119A57B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236" y="1987534"/>
            <a:ext cx="3835780" cy="347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64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E388-600E-3167-FEF4-6AA3B9DB2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B275-5C06-731A-B965-407BD73A2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EA874-A758-FF7B-FEB2-A35912B91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Conclusion 1: Air Passenger Trend</a:t>
            </a:r>
          </a:p>
          <a:p>
            <a:pPr lvl="1"/>
            <a:r>
              <a:rPr lang="en-US" dirty="0"/>
              <a:t>International air travel grew steadily from 1949 to 1960, with average annual passengers nearly quadrupling from 126K to 476K per month, indicating rapid post-war aviation growth.</a:t>
            </a:r>
          </a:p>
          <a:p>
            <a:r>
              <a:rPr lang="en-US" b="1" dirty="0"/>
              <a:t>Conclusion 2: Seasonality Pattern</a:t>
            </a:r>
          </a:p>
          <a:p>
            <a:pPr lvl="1"/>
            <a:r>
              <a:rPr lang="en-US" dirty="0"/>
              <a:t>Strong seasonal patterns are present each year, with passenger peaks in July–August and troughs in November–February, reflecting summer vacation travel habits.</a:t>
            </a:r>
          </a:p>
          <a:p>
            <a:r>
              <a:rPr lang="en-US" b="1" dirty="0"/>
              <a:t>Conclusion 3: Burger Preferences</a:t>
            </a:r>
          </a:p>
          <a:p>
            <a:pPr lvl="1"/>
            <a:r>
              <a:rPr lang="en-US" dirty="0"/>
              <a:t>In-N-Out Burger is overwhelmingly preferred (68.6%), with similar preferences across genders. Tommy’s Hamburgers and “Other” are distant second choices.</a:t>
            </a:r>
          </a:p>
          <a:p>
            <a:r>
              <a:rPr lang="en-US" b="1" dirty="0"/>
              <a:t>Future Work </a:t>
            </a:r>
          </a:p>
          <a:p>
            <a:pPr lvl="1"/>
            <a:r>
              <a:rPr lang="en-US" dirty="0"/>
              <a:t>Expand burger survey to include additional demographics (age, income, location) and test statistical significance of gender differences using chi-square test.</a:t>
            </a:r>
          </a:p>
        </p:txBody>
      </p:sp>
    </p:spTree>
    <p:extLst>
      <p:ext uri="{BB962C8B-B14F-4D97-AF65-F5344CB8AC3E}">
        <p14:creationId xmlns:p14="http://schemas.microsoft.com/office/powerpoint/2010/main" val="3725138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463A7-F1DA-3D47-3074-23EF0D54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97470-3E94-AE75-8A05-73E27C5B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and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C3B13-BE96-AF59-CF5D-5B1FFDBB3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Ronald Fisher: Air Passenger Data EDA</a:t>
            </a:r>
          </a:p>
          <a:p>
            <a:r>
              <a:rPr lang="en-US" dirty="0"/>
              <a:t>David Cox : Burger Place Data numerical EDA</a:t>
            </a:r>
          </a:p>
          <a:p>
            <a:r>
              <a:rPr lang="en-US" dirty="0"/>
              <a:t>C. R. Rao : Data quality assessment and preprocessing</a:t>
            </a:r>
          </a:p>
          <a:p>
            <a:r>
              <a:rPr lang="en-US" dirty="0"/>
              <a:t>Andrey Markov : Coordination,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661644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D4226-7EF8-6879-A7DA-0AF8510AC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740B-AF48-7C8A-2479-7F6AFDBF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31C43-D44E-0A4C-D2F6-00EF4093F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Box, G. E. P., Jenkins, G. M., Reinsel, G. C., &amp; Ljung, G. M. (2015). Time Series Analysis: Forecasting and Control (5th ed.). Wiley.</a:t>
            </a:r>
          </a:p>
          <a:p>
            <a:r>
              <a:rPr lang="en-US" dirty="0"/>
              <a:t>R Core Team (2023). R: A Language and Environment for Statistical Computing. R Foundation for Statistical Computing, Vienna, Austria. https://www.R-project.org/</a:t>
            </a:r>
          </a:p>
          <a:p>
            <a:r>
              <a:rPr lang="en-US" dirty="0"/>
              <a:t>SurveyUSA (2012). Best Burger Place Survey. Retrieved from https://www.surveyusa.com/client/PollPrint.aspx?g=3f69bdaa-a964-4b39-b34a-cab2112e3e31&amp;d=0</a:t>
            </a:r>
          </a:p>
          <a:p>
            <a:r>
              <a:rPr lang="en-US" dirty="0"/>
              <a:t>Hyndman, R. J., &amp; Athanasopoulos, G. (2021). Forecasting: Principles and Practice (3rd ed.). OTexts. https://otexts.com/fpp3/</a:t>
            </a:r>
          </a:p>
        </p:txBody>
      </p:sp>
    </p:spTree>
    <p:extLst>
      <p:ext uri="{BB962C8B-B14F-4D97-AF65-F5344CB8AC3E}">
        <p14:creationId xmlns:p14="http://schemas.microsoft.com/office/powerpoint/2010/main" val="3810538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83FDD-B9FA-67E0-C6BD-91137CC4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0245996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65</TotalTime>
  <Words>642</Words>
  <Application>Microsoft Macintosh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Exploratory data analysis on Air passenger data and Best burger place data</vt:lpstr>
      <vt:lpstr>Air passenger data </vt:lpstr>
      <vt:lpstr>The best burger place</vt:lpstr>
      <vt:lpstr>Air passenger data </vt:lpstr>
      <vt:lpstr>The best burger place</vt:lpstr>
      <vt:lpstr>Barplot</vt:lpstr>
      <vt:lpstr>Conclusion and future work</vt:lpstr>
      <vt:lpstr>Roles and responsibilities</vt:lpstr>
      <vt:lpstr>reference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Lim, Yongho</dc:creator>
  <cp:lastModifiedBy>Lim, Yongho</cp:lastModifiedBy>
  <cp:revision>9</cp:revision>
  <dcterms:created xsi:type="dcterms:W3CDTF">2025-09-22T20:57:35Z</dcterms:created>
  <dcterms:modified xsi:type="dcterms:W3CDTF">2026-02-18T03:34:36Z</dcterms:modified>
</cp:coreProperties>
</file>